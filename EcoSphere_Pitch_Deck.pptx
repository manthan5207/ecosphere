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• SMART INNOVATION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EcoSphere</a:t>
            </a:r>
          </a:p>
          <a:p>
            <a:pPr>
              <a:spcBef>
                <a:spcPts val="600"/>
              </a:spcBef>
              <a:defRPr sz="2400" b="1">
                <a:solidFill>
                  <a:srgbClr val="10B981"/>
                </a:solidFill>
              </a:defRPr>
            </a:pPr>
            <a:r>
              <a:t>Understand. Simulate. Act.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A unified environmental intelligence platform connecting live air quality, microclimate, personal carbon footprint, and predictive scenario simulations.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297680"/>
            <a:ext cx="2468880" cy="155448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4348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AQI INDEX</a:t>
            </a:r>
          </a:p>
          <a:p>
            <a:pPr>
              <a:spcBef>
                <a:spcPts val="400"/>
              </a:spcBef>
              <a:defRPr sz="2200" b="1">
                <a:solidFill>
                  <a:srgbClr val="F59E0B"/>
                </a:solidFill>
              </a:defRPr>
            </a:pPr>
            <a:r>
              <a:t>142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(Live Demo)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4297680"/>
            <a:ext cx="2468880" cy="155448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44348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AMBIENT TEMP</a:t>
            </a:r>
          </a:p>
          <a:p>
            <a:pPr>
              <a:spcBef>
                <a:spcPts val="400"/>
              </a:spcBef>
              <a:defRPr sz="2200" b="1">
                <a:solidFill>
                  <a:srgbClr val="38BDF8"/>
                </a:solidFill>
              </a:defRPr>
            </a:pPr>
            <a:r>
              <a:t>29°C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(Telemetry)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297680"/>
            <a:ext cx="2468880" cy="155448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44348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ECO SCORE</a:t>
            </a:r>
          </a:p>
          <a:p>
            <a:pPr>
              <a:spcBef>
                <a:spcPts val="400"/>
              </a:spcBef>
              <a:defRPr sz="2200" b="1">
                <a:solidFill>
                  <a:srgbClr val="10B981"/>
                </a:solidFill>
              </a:defRPr>
            </a:pPr>
            <a:r>
              <a:t>78 / 100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(Top 22%)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297680"/>
            <a:ext cx="2468880" cy="155448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44348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CO₂ FOOTPRINT</a:t>
            </a:r>
          </a:p>
          <a:p>
            <a:pPr>
              <a:spcBef>
                <a:spcPts val="400"/>
              </a:spcBef>
              <a:defRPr sz="2200" b="1">
                <a:solidFill>
                  <a:srgbClr val="A855F7"/>
                </a:solidFill>
              </a:defRPr>
            </a:pPr>
            <a:r>
              <a:t>1.84 T/yr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(IPCC Calibrated)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•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Environmental Data Is Fragmented</a:t>
            </a:r>
          </a:p>
          <a:p>
            <a:pPr>
              <a:spcBef>
                <a:spcPts val="400"/>
              </a:spcBef>
              <a:defRPr sz="1300" b="0">
                <a:solidFill>
                  <a:srgbClr val="94A3B8"/>
                </a:solidFill>
                <a:latin typeface="Arial"/>
              </a:defRPr>
            </a:pPr>
            <a:r>
              <a:t>People can access environmental data — but rarely see how their choices connect to the surrounding ecosystem.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150876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2194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AQI Apps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Passive numbers (PM2.5, PM10) without contextual behavior recommendations.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828800"/>
            <a:ext cx="2468880" cy="150876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965960"/>
            <a:ext cx="2194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Weather Apps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Isolated temperature &amp; forecasts siloed from pollution and heat vulnerability.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2468880" cy="150876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611880"/>
            <a:ext cx="2194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Carbon Tools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Generic annual calculators detached from real-time city conditions and daily habits.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474720"/>
            <a:ext cx="2468880" cy="150876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611880"/>
            <a:ext cx="2194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Green Advice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Vague, non-quantified lifestyle tips lacking individual attribution and accountability.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ENVIRONMENTAL CONVERSION FUNNEL (CRITICAL DROP-OFF)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01. INFORMATION (Access to AQI &amp; News)  100%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02. AWARENESS (General Concern)  78%</a:t>
            </a:r>
          </a:p>
          <a:p>
            <a:pPr>
              <a:spcBef>
                <a:spcPts val="800"/>
              </a:spcBef>
              <a:defRPr sz="1100" b="1">
                <a:solidFill>
                  <a:srgbClr val="EF4444"/>
                </a:solidFill>
              </a:defRPr>
            </a:pPr>
            <a:r>
              <a:t>📉 STEEPEST DROP (-52%): Disconnection from tangible options  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03. UNDERSTANDING (Local Impact)  26%</a:t>
            </a:r>
          </a:p>
          <a:p>
            <a:pPr>
              <a:spcBef>
                <a:spcPts val="800"/>
              </a:spcBef>
              <a:defRPr sz="1100" b="1">
                <a:solidFill>
                  <a:srgbClr val="EF4444"/>
                </a:solidFill>
              </a:defRPr>
            </a:pPr>
            <a:r>
              <a:t>04. ACTION (Measurable Shift)  9%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The Result: Cognitive Overload &amp; Inaction</a:t>
            </a:r>
            <a:br/>
            <a:r>
              <a:t>Users see high smog or high carbon stats, but cannot pinpoint which personal decision moves the needle.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•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One Platform. Three Steps.</a:t>
            </a:r>
          </a:p>
          <a:p>
            <a:pPr>
              <a:spcBef>
                <a:spcPts val="400"/>
              </a:spcBef>
              <a:defRPr sz="1300" b="0">
                <a:solidFill>
                  <a:srgbClr val="94A3B8"/>
                </a:solidFill>
                <a:latin typeface="Arial"/>
              </a:defRPr>
            </a:pPr>
            <a:r>
              <a:t>EcoSphere links real-time environmental context to predictive consequences and personal accountability.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29000" cy="411480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0632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01  UNDERSTAND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Real-time hyperlocal intelligence across multi-source atmospheric sensors.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✓ Live station &amp; model-based AQI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✓ 6 major criteria pollutants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✓ Ambient weather &amp; humidity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✓ 7-Day predictive forecast</a:t>
            </a:r>
          </a:p>
          <a:p>
            <a:br/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Telemetry Layer: Zero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29000" cy="411480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011680"/>
            <a:ext cx="30632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02  SIMULATE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Interactive digital twin modeling systemic urban and policy interventions.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✓ What-if scenario testing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✓ Canopy &amp; deforestation impacts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✓ +10 / +50 year horizon view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✓ Simplified parametric model</a:t>
            </a:r>
          </a:p>
          <a:p>
            <a:br/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Predictive Layer: Decision preview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429000" cy="411480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011680"/>
            <a:ext cx="30632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03  ACT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Pragmatic behavior modification with quantified carbon and cost incentives.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✓ Dynamic personal carbon tally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✓ Ranked high-leverage swaps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✓ Eco Score tracking (0–100)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✓ Pledges &amp; verified impact</a:t>
            </a:r>
          </a:p>
          <a:p>
            <a:br/>
            <a:pPr>
              <a:spcBef>
                <a:spcPts val="600"/>
              </a:spcBef>
              <a:defRPr sz="1100" b="1">
                <a:solidFill>
                  <a:srgbClr val="F59E0B"/>
                </a:solidFill>
              </a:defRPr>
            </a:pPr>
            <a:r>
              <a:t>Behavior Layer: Quantified habits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807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🔄 Continuous Feedback Loop: Sense Local Air  →  Simulate Community Trajectory  →  Optimize Personal Decarbonization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• DIGITAL TWIN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What-If Simulator</a:t>
            </a:r>
          </a:p>
          <a:p>
            <a:pPr>
              <a:spcBef>
                <a:spcPts val="400"/>
              </a:spcBef>
              <a:defRPr sz="1300" b="0">
                <a:solidFill>
                  <a:srgbClr val="94A3B8"/>
                </a:solidFill>
                <a:latin typeface="Arial"/>
              </a:defRPr>
            </a:pPr>
            <a:r>
              <a:t>See the consequences before you act — interactive environmental scenario projection.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137160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CURRENT CITY BASELINE (Status Quo)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🌲 Tree Cover: 32%     |     🌡️ Microclimate: 29°C</a:t>
            </a:r>
            <a:br/>
            <a:r>
              <a:t>💨 Particulate Smog: AQI 85     |     🏥 Health Risk: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5120640" cy="137160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SIMULATED SCENARIO (+50 YEARS - Severe Impact)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⚠️ Tree Cover: 11% (-21%)     |     🔥 Heat Island: +3.8°C</a:t>
            </a:r>
            <a:br/>
            <a:r>
              <a:t>🌫️ Particulate Smog: AQI 168     |     🫁 Respiratory Burden: +42%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5120640" cy="128016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Scenario Insight: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Urban tree loss triggers compounding feedback loops — surface heat absorption surges by 26%, doubling stagnation of PM2.5 particulates over 50 years.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5303520" cy="438912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PARAMETRIC SCENARIO TRAJECTORY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● Temp &amp; Smog Index (Red)   |   ● Green Resilience (Green)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1. Current (2026 - Status Quo):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Temp &amp; Smog: Low (AQI 85, 29°C)  |  Green Resilience: 70%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2. +10 Years Horizon (2036):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Temp &amp; Smog: Rising (+18 pts)  |  Green Resilience: 48%</a:t>
            </a:r>
          </a:p>
          <a:p>
            <a:br/>
            <a:pPr>
              <a:defRPr sz="1100" b="1">
                <a:solidFill>
                  <a:srgbClr val="EF4444"/>
                </a:solidFill>
              </a:defRPr>
            </a:pPr>
            <a:r>
              <a:t>3. +50 Years Horizon (2076):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Temp &amp; Smog: Severe (AQI 168, +3.8°C)  |  Green Resilience: 18%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• FEATURE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Unified Environmental Dashboard</a:t>
            </a:r>
          </a:p>
          <a:p>
            <a:pPr>
              <a:spcBef>
                <a:spcPts val="400"/>
              </a:spcBef>
              <a:defRPr sz="1300" b="0">
                <a:solidFill>
                  <a:srgbClr val="94A3B8"/>
                </a:solidFill>
                <a:latin typeface="Arial"/>
              </a:defRPr>
            </a:pPr>
            <a:r>
              <a:t>Everything in one environmental cockpit — live sensors, carbon diagnostics, and predictive insights.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29000" cy="164592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AIR QUALITY INDEX  [Unhealthy]</a:t>
            </a:r>
          </a:p>
          <a:p>
            <a:pPr>
              <a:spcBef>
                <a:spcPts val="200"/>
              </a:spcBef>
              <a:defRPr sz="2400" b="1">
                <a:solidFill>
                  <a:srgbClr val="FFFFFF"/>
                </a:solidFill>
              </a:defRPr>
            </a:pPr>
            <a:r>
              <a:t>142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PM2.5 Primary Driver</a:t>
            </a:r>
            <a:br/>
            <a:r>
              <a:t>Sensitive groups should limit outdoor activity.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29000" cy="164592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96596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MICROCLIMATE TELEMETRY  [New Delhi]</a:t>
            </a:r>
          </a:p>
          <a:p>
            <a:pPr>
              <a:spcBef>
                <a:spcPts val="200"/>
              </a:spcBef>
              <a:defRPr sz="2400" b="1">
                <a:solidFill>
                  <a:srgbClr val="FFFFFF"/>
                </a:solidFill>
              </a:defRPr>
            </a:pPr>
            <a:r>
              <a:t>29°C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Partly Cloudy</a:t>
            </a:r>
            <a:br/>
            <a:r>
              <a:t>💧 Humidity: 64%  •  💨 Wind: 14 km/h NW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429000" cy="164592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96596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PERSONAL ECO SCORE  [Top 22%]</a:t>
            </a:r>
          </a:p>
          <a:p>
            <a:pPr>
              <a:spcBef>
                <a:spcPts val="200"/>
              </a:spcBef>
              <a:defRPr sz="2400" b="1">
                <a:solidFill>
                  <a:srgbClr val="FFFFFF"/>
                </a:solidFill>
              </a:defRPr>
            </a:pPr>
            <a:r>
              <a:t>78 / 100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+6 pts this month</a:t>
            </a:r>
            <a:br/>
            <a:r>
              <a:t>Annual Footprint: 1,840 kg CO₂/yr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5257800" cy="182880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7-DAY ENVIRONMENTAL FORECAST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Mon: 29°C (AQI 138)  |  Tue: 30°C (AQI 142)  |  Wed: 31°C (AQI 145)</a:t>
            </a:r>
            <a:br/>
            <a:r>
              <a:t>Thu: 29°C (AQI 135)  |  Fri: 28°C (AQI 120)  |  Sat: 30°C (AQI 130)</a:t>
            </a:r>
            <a:br/>
            <a:r>
              <a:t>Sun: 29°C (AQI 115)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657600"/>
            <a:ext cx="5257800" cy="182880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749039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6-CATEGORY POLLUTANT MATRIX (CONCENTRATION)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PM2.5 (Fine Particulates): 84% (High)   |   • PM10 (Coarse Dust): 62%</a:t>
            </a:r>
            <a:br/>
            <a:r>
              <a:t>• NO₂ (Vehicle Exhaust): 52%             |   • SO₂ (Industrial Gas): 24%</a:t>
            </a:r>
            <a:br/>
            <a:r>
              <a:t>• CO (Carbon Monoxide): 31%             |   • O₃ (Ground Ozone): 41%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23560"/>
            <a:ext cx="10698480" cy="68580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⭐ TOP ACTION: Switch 2 commute days/week to electric metro: Potential saving of 320 kg CO₂/year  (+8 Eco Score Points)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• BEHAVIORAL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From Numbers to Decisions</a:t>
            </a:r>
          </a:p>
          <a:p>
            <a:pPr>
              <a:spcBef>
                <a:spcPts val="400"/>
              </a:spcBef>
              <a:defRPr sz="1300" b="0">
                <a:solidFill>
                  <a:srgbClr val="94A3B8"/>
                </a:solidFill>
                <a:latin typeface="Arial"/>
              </a:defRPr>
            </a:pPr>
            <a:r>
              <a:t>Translating abstract carbon metrics into ranked, achievable lifestyle adjustments.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82296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1. Lifestyle Inputs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Transport, Energy, Diet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60320" cy="82296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874519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2. Footprint Score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1,840 kg CO₂/yr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560320" cy="82296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874519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3. Benchmarks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India 1.9T | Global 4.7T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28800"/>
            <a:ext cx="2560320" cy="82296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874519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55F7"/>
                </a:solidFill>
              </a:defRPr>
            </a:pPr>
            <a:r>
              <a:t>4. Targeted Actions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Ranked Interventions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6217920" cy="347472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5852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POTENTIAL ANNUAL CO₂ SAVINGS (RANKED)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1. Commute Mode Shift (Metro/Bus 3 days/week)  →  420 kg CO₂/yr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2. Home Energy Optimization (BLDC fans, LED + AC 24°C)  →  280 kg CO₂/yr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3. Plant-Rich Diet Swaps (4 low-footprint meals/week)  →  190 kg CO₂/yr</a:t>
            </a:r>
          </a:p>
          <a:p>
            <a:pPr>
              <a:spcBef>
                <a:spcPts val="800"/>
              </a:spcBef>
              <a:defRPr sz="1100" b="1">
                <a:solidFill>
                  <a:srgbClr val="A855F7"/>
                </a:solidFill>
              </a:defRPr>
            </a:pPr>
            <a:r>
              <a:t>4. Consumption &amp; Longevity (Reduced fast fashion)  →  110 kg CO₂/yr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834640"/>
            <a:ext cx="4297680" cy="164592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92608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TREE-EQUIVALENT TRANSLATION</a:t>
            </a:r>
            <a:br/>
            <a:r>
              <a:t>≈ 20 Mature Trees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A 420 kg CO₂ reduction equals the annual carbon sequestered by ~20 growing urban trees.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4663440"/>
            <a:ext cx="2057400" cy="164592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4754880"/>
            <a:ext cx="18745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ANNUAL COST DIVIDEND</a:t>
            </a:r>
            <a:br/>
            <a:br/>
            <a:r>
              <a:t>₹14,200</a:t>
            </a:r>
            <a:br/>
            <a:r>
              <a:t>Saved / Year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4663440"/>
            <a:ext cx="2057400" cy="164592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4754880"/>
            <a:ext cx="18745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COMMUNITY BADGE</a:t>
            </a:r>
            <a:br/>
            <a:br/>
            <a:r>
              <a:t>🏅 Delhi Transit Star</a:t>
            </a:r>
            <a:br/>
            <a:r>
              <a:t>(Top 15% Commute)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• ENGINEERING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Lightweight &amp; Scalable Tech</a:t>
            </a:r>
          </a:p>
          <a:p>
            <a:pPr>
              <a:spcBef>
                <a:spcPts val="400"/>
              </a:spcBef>
              <a:defRPr sz="1300" b="0">
                <a:solidFill>
                  <a:srgbClr val="94A3B8"/>
                </a:solidFill>
                <a:latin typeface="Arial"/>
              </a:defRPr>
            </a:pPr>
            <a:r>
              <a:t>Built for rapid response, zero API key dependencies, and seamless mobile execution.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82296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01. CLIENT TIER  —  Mobile Browser  •  Desktop Web App  •  PWA Capability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698480" cy="82296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02. REACT CORE  —  React 18 + Vite  •  Tailwind CSS  •  Framer Motion  •  Recharts SVG Engine  •  Zustand 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40"/>
            <a:ext cx="10698480" cy="82296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03. APP ENGINES  —  Carbon Calculator  •  Scenario Engine (+10/+50Y)  •  Eco Score Normalizer  •  Recommendation Filter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10698480" cy="82296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04. DATA LAYER  —  Open-Meteo APIs (Weather)  •  Model-Based AQI Feeds  •  Offline Sample Dataset Fallback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60720"/>
            <a:ext cx="2560320" cy="73152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⚡ Sub-Second Speed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Vite optimized SPA bundle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5760720"/>
            <a:ext cx="2560320" cy="73152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580644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📱 Mobile-First Design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Tailwind fluid viewport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5760720"/>
            <a:ext cx="2560320" cy="73152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580644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📦 Offline Fallback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Preloaded demo caches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5760720"/>
            <a:ext cx="2560320" cy="73152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580644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🔑 Zero API Key Cost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Open-Meteo open tier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• GROWTH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Making Awareness Actionable</a:t>
            </a:r>
          </a:p>
          <a:p>
            <a:pPr>
              <a:spcBef>
                <a:spcPts val="400"/>
              </a:spcBef>
              <a:defRPr sz="1300" b="0">
                <a:solidFill>
                  <a:srgbClr val="94A3B8"/>
                </a:solidFill>
                <a:latin typeface="Arial"/>
              </a:defRPr>
            </a:pPr>
            <a:r>
              <a:t>Bridging individual actions with city-scale climate resilience.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CORE IMPACT PILLARS (4 STRATEGIC VECTORS)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👤 Personalized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Translates macro gigatons into direct personal kilograms and household savings.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📊 Visual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Replaces complex sensor tables with intuitive scenarios and progress telemetry.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📍 India-Focused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Tailored for Delhi-NCR microclimates, INR currency savings, and transit routes.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🎓 Expandable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Ready for campus hackathons, colleges, schools, and civic green leagues.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5303520" cy="411480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9659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EVOLUTIONARY ROADMAP (EXECUTION PHASES)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PHASE 1 — NOW (MVP)  [COMPLETED]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Unified telemetry dashboard, personal carbon engine, 3-scenario simulator.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PHASE 2 — NEXT (Q3)  [IN PROGRESS]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Station-level sensor APIs, user auth, college cohort leaderboards &amp; badges.</a:t>
            </a:r>
          </a:p>
          <a:p>
            <a:pPr>
              <a:spcBef>
                <a:spcPts val="800"/>
              </a:spcBef>
              <a:defRPr sz="1100" b="1">
                <a:solidFill>
                  <a:srgbClr val="A855F7"/>
                </a:solidFill>
              </a:defRPr>
            </a:pPr>
            <a:r>
              <a:t>PHASE 3 — FUTURE HORIZON  [PLANNED]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Smart meter feeds, transit smart-card sync, regional languages &amp; NGO credits.</a:t>
            </a:r>
          </a:p>
          <a:p>
            <a:br/>
            <a:pPr>
              <a:spcBef>
                <a:spcPts val="1000"/>
              </a:spcBef>
              <a:defRPr sz="1100" b="1">
                <a:solidFill>
                  <a:srgbClr val="10B981"/>
                </a:solidFill>
              </a:defRPr>
            </a:pPr>
            <a:r>
              <a:t>🎯 Goal: 50,000 active student users across North Indian campuses.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807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OUR VISION: "Build a personal environmental intelligence layer for everyday planetary decisions."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• COLLEGE INNOVATION PROJECT PITCH</a:t>
            </a:r>
          </a:p>
          <a:p>
            <a:pPr algn="ctr">
              <a:spcBef>
                <a:spcPts val="600"/>
              </a:spcBef>
              <a:defRPr sz="5600" b="1">
                <a:solidFill>
                  <a:srgbClr val="FFFFFF"/>
                </a:solidFill>
              </a:defRPr>
            </a:pPr>
            <a:r>
              <a:t>EcoSphere</a:t>
            </a:r>
          </a:p>
          <a:p>
            <a:pPr algn="ctr">
              <a:spcBef>
                <a:spcPts val="400"/>
              </a:spcBef>
              <a:defRPr sz="2200" b="1">
                <a:solidFill>
                  <a:srgbClr val="10B981"/>
                </a:solidFill>
              </a:defRPr>
            </a:pPr>
            <a:r>
              <a:t>Understand. Simulate. Act.</a:t>
            </a:r>
          </a:p>
          <a:p>
            <a:br/>
            <a:br/>
            <a:pPr algn="ctr">
              <a:defRPr sz="2600" b="1">
                <a:solidFill>
                  <a:srgbClr val="FFFFFF"/>
                </a:solidFill>
              </a:defRPr>
            </a:pPr>
            <a:r>
              <a:t>💬 Questions &amp; Discussion</a:t>
            </a:r>
          </a:p>
          <a:p>
            <a:pPr algn="ctr"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Thank you for your time. We welcome feedback on our simulation engine, telemetry integration, and campus deployment roadmap.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11680" y="5486400"/>
            <a:ext cx="2560320" cy="59436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553212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0B981"/>
                </a:solidFill>
              </a:defRPr>
            </a:pPr>
            <a:r>
              <a:t>📡 Real-Time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5486400"/>
            <a:ext cx="2560320" cy="59436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553212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0B981"/>
                </a:solidFill>
              </a:defRPr>
            </a:pPr>
            <a:r>
              <a:t>🏙️ What-If Digital Twin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5486400"/>
            <a:ext cx="2560320" cy="59436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553212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0B981"/>
                </a:solidFill>
              </a:defRPr>
            </a:pPr>
            <a:r>
              <a:t>🌱 Personal Decarbonization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Arial"/>
              </a:defRPr>
            </a:pPr>
            <a:r>
              <a:t>• APPENDIX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Image &amp; Data Sources</a:t>
            </a:r>
          </a:p>
          <a:p>
            <a:pPr>
              <a:spcBef>
                <a:spcPts val="400"/>
              </a:spcBef>
              <a:defRPr sz="1300" b="0">
                <a:solidFill>
                  <a:srgbClr val="94A3B8"/>
                </a:solidFill>
                <a:latin typeface="Arial"/>
              </a:defRPr>
            </a:pPr>
            <a:r>
              <a:t>Research calibration and imagery references for EcoSphere.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23444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Futuristic Smart City Digital Twin Visuals</a:t>
            </a:r>
          </a:p>
          <a:p>
            <a:pPr>
              <a:spcBef>
                <a:spcPts val="200"/>
              </a:spcBef>
              <a:defRPr sz="1000">
                <a:solidFill>
                  <a:srgbClr val="FFFFFF"/>
                </a:solidFill>
              </a:defRPr>
            </a:pPr>
            <a:r>
              <a:t>https://www.ierek.com/news/wp-content/uploads/2025/06/Black-and-Green-Modern-Futuristic-Digital-Transformation-with-AI-Technology.png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Source: www.ierek.com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10698480" cy="123444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Atmospheric Telemetry &amp; Vector Assets</a:t>
            </a:r>
          </a:p>
          <a:p>
            <a:pPr>
              <a:spcBef>
                <a:spcPts val="200"/>
              </a:spcBef>
              <a:defRPr sz="1000">
                <a:solidFill>
                  <a:srgbClr val="FFFFFF"/>
                </a:solidFill>
              </a:defRPr>
            </a:pPr>
            <a:r>
              <a:t>https://elements-resized.envatousercontent.com/elements-video-cover-images/files/7f6bf28c-37b3-4559-ab34-f8c2f41de0c4/inline_image_preview.jpg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Source: elements.envato.com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1234440"/>
          </a:xfrm>
          <a:prstGeom prst="roundRect">
            <a:avLst/>
          </a:prstGeom>
          <a:solidFill>
            <a:srgbClr val="0D1B1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Scientific Carbon &amp; Meteorological Calibration</a:t>
            </a:r>
          </a:p>
          <a:p>
            <a:pPr>
              <a:spcBef>
                <a:spcPts val="200"/>
              </a:spcBef>
              <a:defRPr sz="1000">
                <a:solidFill>
                  <a:srgbClr val="FFFFFF"/>
                </a:solidFill>
              </a:defRPr>
            </a:pPr>
            <a:r>
              <a:t>Open-Meteo Air Quality &amp; Weather API, IPCC AR6 WG3 Climate Mitigation Benchmarks, and CEA India Baseline CO₂ Emission Database.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Source: IPCC &amp; CEA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